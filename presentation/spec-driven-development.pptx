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SPEC-DRIVEN
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F46800"/>
                </a:solidFill>
              </a:rPr>
              <a:t>Building the right thing — from README to running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8"/>
                </a:solidFill>
              </a:rPr>
              <a:t>Worked example: Grafana Log Monitoring POC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37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8"/>
                </a:solidFill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7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8"/>
                </a:solidFill>
              </a:rPr>
              <a:t>Spec-Driven Development  |  Grafana Log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40312" y="6497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0D8"/>
                </a:solidFill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2011680" cy="292608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A3A"/>
                </a:solidFill>
              </a:rPr>
              <a:t>Agenda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502920" cy="438912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245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2A3A"/>
                </a:solidFill>
              </a:rPr>
              <a:t>What is Spec-Driven Development?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52928"/>
            <a:ext cx="502920" cy="438912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85292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9037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2A3A"/>
                </a:solidFill>
              </a:rPr>
              <a:t>The Problem Without Specs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11296"/>
            <a:ext cx="502920" cy="438912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511296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562096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2A3A"/>
                </a:solidFill>
              </a:rPr>
              <a:t>The SDD Workflow  (5 steps)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69664"/>
            <a:ext cx="502920" cy="438912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169664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220464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2A3A"/>
                </a:solidFill>
              </a:rPr>
              <a:t>Worked Example: Grafana Log POC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28032"/>
            <a:ext cx="502920" cy="438912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28032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788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2A3A"/>
                </a:solidFill>
              </a:rPr>
              <a:t>From Spec → Code → Infrastructure → Dashboard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486400"/>
            <a:ext cx="502920" cy="438912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486400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5372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2A3A"/>
                </a:solidFill>
              </a:rPr>
              <a:t>Benefits &amp; Key Principles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7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8"/>
                </a:solidFill>
              </a:rPr>
              <a:t>Spec-Driven Development  |  Grafana Log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40312" y="6497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0D8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2011680" cy="292608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A3A"/>
                </a:solidFill>
              </a:rPr>
              <a:t>What is Spec-Driven Development?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11247120" cy="118872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FFFFF"/>
                </a:solidFill>
              </a:rPr>
              <a:t>A development practice where a written specification (the "spec") is created
BEFORE any code is written — and every implementation decision traces back to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57600"/>
            <a:ext cx="3566160" cy="2560320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749039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Spec First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4251960"/>
            <a:ext cx="10058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343400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The README (or spec doc)
is the single source
of truth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3657600"/>
            <a:ext cx="3566160" cy="2560320"/>
          </a:xfrm>
          <a:prstGeom prst="rect">
            <a:avLst/>
          </a:prstGeom>
          <a:solidFill>
            <a:srgbClr val="00B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60" y="3749039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Traceable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32120" y="4251960"/>
            <a:ext cx="10058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4343400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Every file, config, and
feature maps back
to a spec item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57600"/>
            <a:ext cx="3566160" cy="256032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3749039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Verifiable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0" y="4251960"/>
            <a:ext cx="10058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4343400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Done means spec is
met — not just
code committed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7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8"/>
                </a:solidFill>
              </a:rPr>
              <a:t>Spec-Driven Development  |  Grafana Log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40312" y="6497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0D8"/>
                </a:solidFill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2011680" cy="292608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A3A"/>
                </a:solidFill>
              </a:rPr>
              <a:t>Without a Spec — What Goes Wrong?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73152" cy="54864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40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A3A"/>
                </a:solidFill>
              </a:rPr>
              <a:t>Scope creep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24028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657A"/>
                </a:solidFill>
              </a:rPr>
              <a:t>Features grow beyond original intent with no written boundary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44952"/>
            <a:ext cx="73152" cy="54864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449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A3A"/>
                </a:solidFill>
              </a:rPr>
              <a:t>Misaligned expectations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044952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657A"/>
                </a:solidFill>
              </a:rPr>
              <a:t>Dev builds X, stakeholder expected 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9624"/>
            <a:ext cx="73152" cy="54864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4962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A3A"/>
                </a:solidFill>
              </a:rPr>
              <a:t>Rework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849624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657A"/>
                </a:solidFill>
              </a:rPr>
              <a:t>Code written before requirements are clear gets thrown away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54296"/>
            <a:ext cx="73152" cy="54864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65429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A3A"/>
                </a:solidFill>
              </a:rPr>
              <a:t>Knowledge silos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654296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657A"/>
                </a:solidFill>
              </a:rPr>
              <a:t>Only the original author knows what the system is supposed to 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458968"/>
            <a:ext cx="73152" cy="54864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4589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A3A"/>
                </a:solidFill>
              </a:rPr>
              <a:t>Impossible to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5458968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657A"/>
                </a:solidFill>
              </a:rPr>
              <a:t>No spec = no acceptance criteria = no way to say "done"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7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8"/>
                </a:solidFill>
              </a:rPr>
              <a:t>Spec-Driven Development  |  Grafana Log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40312" y="6497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0D8"/>
                </a:solidFill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2011680" cy="292608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A3A"/>
                </a:solidFill>
              </a:rPr>
              <a:t>The Spec-Driven Workflow  (5 Steps)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2103120"/>
            <a:ext cx="1920240" cy="2743200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19456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
Write
the Spec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383280"/>
            <a:ext cx="1371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347472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Define what &amp; why
in README / spec doc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2576" y="32918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0D8"/>
                </a:solidFill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2103120"/>
            <a:ext cx="1920240" cy="2743200"/>
          </a:xfrm>
          <a:prstGeom prst="rect">
            <a:avLst/>
          </a:prstGeom>
          <a:solidFill>
            <a:srgbClr val="00B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219456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
Review
&amp; Agree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3383280"/>
            <a:ext cx="1371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347472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Stakeholders sign off
before code starts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32918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0D8"/>
                </a:solidFill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3712" y="2103120"/>
            <a:ext cx="1920240" cy="27432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219456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
Implement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28032" y="3383280"/>
            <a:ext cx="1371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347472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Code traces directly
to spec items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2918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0D8"/>
                </a:solidFill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38544" y="2103120"/>
            <a:ext cx="1920240" cy="2743200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8544" y="219456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
Verify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12864" y="3383280"/>
            <a:ext cx="1371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8544" y="347472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Tests confirm spec
is satisfied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7072" y="32918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0D8"/>
                </a:solidFill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23376" y="2103120"/>
            <a:ext cx="1920240" cy="27432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23376" y="219456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
Update
the Spec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97696" y="3383280"/>
            <a:ext cx="1371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23376" y="347472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Spec evolves with
the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7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8"/>
                </a:solidFill>
              </a:rPr>
              <a:t>Spec-Driven Development  |  Grafana Log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40312" y="6497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0D8"/>
                </a:solidFill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2011680" cy="292608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WORKED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A3A"/>
                </a:solidFill>
              </a:rPr>
              <a:t>Worked Example: Grafana Log Monitoring POC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6800"/>
                </a:solidFill>
              </a:rPr>
              <a:t>The Spec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6032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>
                <a:solidFill>
                  <a:srgbClr val="1E2A3A"/>
                </a:solidFill>
              </a:rPr>
              <a:t>●  README.md written first — full architecture, components, and log format defined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1E2A3A"/>
                </a:solidFill>
              </a:rPr>
              <a:t>●  3 simulated services: auth, payment, api-gateway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1E2A3A"/>
                </a:solidFill>
              </a:rPr>
              <a:t>●  Structured JSON logs with level / service / request_id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1E2A3A"/>
                </a:solidFill>
              </a:rPr>
              <a:t>●  Grafana dashboard panels specified before any JSON was written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103120"/>
            <a:ext cx="36576" cy="3474720"/>
          </a:xfrm>
          <a:prstGeom prst="rect">
            <a:avLst/>
          </a:prstGeom>
          <a:solidFill>
            <a:srgbClr val="CC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148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0A0"/>
                </a:solidFill>
              </a:rPr>
              <a:t>Architecture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606040"/>
            <a:ext cx="274320" cy="475488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60604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A3A"/>
                </a:solidFill>
              </a:rPr>
              <a:t>log_generator.py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60604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57A"/>
                </a:solidFill>
              </a:rPr>
              <a:t>Python — emits JSON logs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30815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0D8"/>
                </a:solidFill>
              </a:rPr>
              <a:t>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355848"/>
            <a:ext cx="274320" cy="475488"/>
          </a:xfrm>
          <a:prstGeom prst="rect">
            <a:avLst/>
          </a:prstGeom>
          <a:solidFill>
            <a:srgbClr val="00B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355848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A3A"/>
                </a:solidFill>
              </a:rPr>
              <a:t>Promtail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3355848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57A"/>
                </a:solidFill>
              </a:rPr>
              <a:t>Scrapes &amp; ships logs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383133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0D8"/>
                </a:solidFill>
              </a:rPr>
              <a:t>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105656"/>
            <a:ext cx="274320" cy="475488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10565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A3A"/>
                </a:solidFill>
              </a:rPr>
              <a:t>Loki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4105656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57A"/>
                </a:solidFill>
              </a:rPr>
              <a:t>Stores &amp; indexes logs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45811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0D8"/>
                </a:solidFill>
              </a:rPr>
              <a:t>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4855464"/>
            <a:ext cx="274320" cy="475488"/>
          </a:xfrm>
          <a:prstGeom prst="rect">
            <a:avLst/>
          </a:prstGeom>
          <a:solidFill>
            <a:srgbClr val="F4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855464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A3A"/>
                </a:solidFill>
              </a:rPr>
              <a:t>Grafana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4855464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57A"/>
                </a:solidFill>
              </a:rPr>
              <a:t>Visualizes with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7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8"/>
                </a:solidFill>
              </a:rPr>
              <a:t>Spec-Driven Development  |  Grafana Log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40312" y="6497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0D8"/>
                </a:solidFill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2011680" cy="292608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STEP 1 —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A3A"/>
                </a:solidFill>
              </a:rPr>
              <a:t>Step 1: Write the Spec  (README as Source of Truth)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6949440" cy="4114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54864" cy="4114800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04720"/>
            <a:ext cx="6766560" cy="391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BD0FF"/>
                </a:solidFill>
                <a:latin typeface="Courier New"/>
              </a:rPr>
              <a:t># Jai-Github — Grafana Log POC</a:t>
            </a:r>
          </a:p>
          <a:p>
            <a:r>
              <a:rPr sz="1200">
                <a:solidFill>
                  <a:srgbClr val="CBD0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CBD0FF"/>
                </a:solidFill>
                <a:latin typeface="Courier New"/>
              </a:rPr>
              <a:t>## Spec</a:t>
            </a:r>
          </a:p>
          <a:p>
            <a:r>
              <a:rPr sz="1200">
                <a:solidFill>
                  <a:srgbClr val="CBD0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CBD0FF"/>
                </a:solidFill>
                <a:latin typeface="Courier New"/>
              </a:rPr>
              <a:t>### Log Generator (log_generator.py)</a:t>
            </a:r>
          </a:p>
          <a:p>
            <a:r>
              <a:rPr sz="1200">
                <a:solidFill>
                  <a:srgbClr val="CBD0FF"/>
                </a:solidFill>
                <a:latin typeface="Courier New"/>
              </a:rPr>
              <a:t>- Emits structured JSON log lines to ./logs/app.log</a:t>
            </a:r>
          </a:p>
          <a:p>
            <a:r>
              <a:rPr sz="1200">
                <a:solidFill>
                  <a:srgbClr val="CBD0FF"/>
                </a:solidFill>
                <a:latin typeface="Courier New"/>
              </a:rPr>
              <a:t>- Fields: timestamp, level (INFO/WARN/ERROR), service, message, request_id</a:t>
            </a:r>
          </a:p>
          <a:p>
            <a:r>
              <a:rPr sz="1200">
                <a:solidFill>
                  <a:srgbClr val="CBD0FF"/>
                </a:solidFill>
                <a:latin typeface="Courier New"/>
              </a:rPr>
              <a:t>- Simulates 3 services: auth-service, payment-service, api-gateway</a:t>
            </a:r>
          </a:p>
          <a:p>
            <a:r>
              <a:rPr sz="1200">
                <a:solidFill>
                  <a:srgbClr val="CBD0FF"/>
                </a:solidFill>
                <a:latin typeface="Courier New"/>
              </a:rPr>
              <a:t>- Random level distribution: ~70% INFO, ~20% WARN, ~10% ERROR</a:t>
            </a:r>
          </a:p>
          <a:p>
            <a:r>
              <a:rPr sz="1200">
                <a:solidFill>
                  <a:srgbClr val="CBD0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CBD0FF"/>
                </a:solidFill>
                <a:latin typeface="Courier New"/>
              </a:rPr>
              <a:t>### Grafana Dashboard</a:t>
            </a:r>
          </a:p>
          <a:p>
            <a:r>
              <a:rPr sz="1200">
                <a:solidFill>
                  <a:srgbClr val="CBD0FF"/>
                </a:solidFill>
                <a:latin typeface="Courier New"/>
              </a:rPr>
              <a:t>- Log volume over time (bar chart)</a:t>
            </a:r>
          </a:p>
          <a:p>
            <a:r>
              <a:rPr sz="1200">
                <a:solidFill>
                  <a:srgbClr val="CBD0FF"/>
                </a:solidFill>
                <a:latin typeface="Courier New"/>
              </a:rPr>
              <a:t>- Log level breakdown (pie chart)</a:t>
            </a:r>
          </a:p>
          <a:p>
            <a:r>
              <a:rPr sz="1200">
                <a:solidFill>
                  <a:srgbClr val="CBD0FF"/>
                </a:solidFill>
                <a:latin typeface="Courier New"/>
              </a:rPr>
              <a:t>- Live log stream with label filters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103120"/>
            <a:ext cx="4069080" cy="118872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2194560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6800"/>
                </a:solidFill>
              </a:rPr>
              <a:t>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468880"/>
            <a:ext cx="4069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Clear
Acceptance
Criteria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3429000"/>
            <a:ext cx="4069080" cy="118872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3520440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6800"/>
                </a:solidFill>
              </a:rPr>
              <a:t>Benefit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3794760"/>
            <a:ext cx="4069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No guesswork
for devs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4754880"/>
            <a:ext cx="4069080" cy="118872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4846320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6800"/>
                </a:solidFill>
              </a:rPr>
              <a:t>Benefit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5120640"/>
            <a:ext cx="4069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Reviewable
before commit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7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8"/>
                </a:solidFill>
              </a:rPr>
              <a:t>Spec-Driven Development  |  Grafana Log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40312" y="6497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0D8"/>
                </a:solidFill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2011680" cy="292608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STEP 3 — IMPLEMENT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A3A"/>
                </a:solidFill>
              </a:rPr>
              <a:t>Step 3: From Spec → Code  (log_generator.py)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11247120" cy="594360"/>
          </a:xfrm>
          <a:prstGeom prst="rect">
            <a:avLst/>
          </a:prstGeom>
          <a:solidFill>
            <a:srgbClr val="00B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031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Spec says:  "Emits structured JSON log lines · level distribution ~70% INFO / ~20% WARN / ~10% ERROR"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88920"/>
            <a:ext cx="7315200" cy="3429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88920"/>
            <a:ext cx="54864" cy="3429000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890520"/>
            <a:ext cx="7132320" cy="322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BD0FF"/>
                </a:solidFill>
                <a:latin typeface="Courier New"/>
              </a:rPr>
              <a:t>SERVICES = ["auth-service", "payment-service", "api-gateway"]</a:t>
            </a:r>
          </a:p>
          <a:p>
            <a:r>
              <a:rPr sz="1100">
                <a:solidFill>
                  <a:srgbClr val="CBD0FF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CBD0FF"/>
                </a:solidFill>
                <a:latin typeface="Courier New"/>
              </a:rPr>
              <a:t># Weighted distribution: 70% INFO  20% WARN  10% ERROR</a:t>
            </a:r>
          </a:p>
          <a:p>
            <a:r>
              <a:rPr sz="1100">
                <a:solidFill>
                  <a:srgbClr val="CBD0FF"/>
                </a:solidFill>
                <a:latin typeface="Courier New"/>
              </a:rPr>
              <a:t>LEVEL_WEIGHTS = [("INFO", 70), ("WARN", 20), ("ERROR", 10)]</a:t>
            </a:r>
          </a:p>
          <a:p>
            <a:r>
              <a:rPr sz="1100">
                <a:solidFill>
                  <a:srgbClr val="CBD0FF"/>
                </a:solidFill>
                <a:latin typeface="Courier New"/>
              </a:rPr>
              <a:t>LEVELS = [level for level, w in LEVEL_WEIGHTS for _ in range(w)]</a:t>
            </a:r>
          </a:p>
          <a:p>
            <a:r>
              <a:rPr sz="1100">
                <a:solidFill>
                  <a:srgbClr val="CBD0FF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CBD0FF"/>
                </a:solidFill>
                <a:latin typeface="Courier New"/>
              </a:rPr>
              <a:t>def make_log_entry() -&gt; dict:</a:t>
            </a:r>
          </a:p>
          <a:p>
            <a:r>
              <a:rPr sz="1100">
                <a:solidFill>
                  <a:srgbClr val="CBD0FF"/>
                </a:solidFill>
                <a:latin typeface="Courier New"/>
              </a:rPr>
              <a:t>    return {</a:t>
            </a:r>
          </a:p>
          <a:p>
            <a:r>
              <a:rPr sz="1100">
                <a:solidFill>
                  <a:srgbClr val="CBD0FF"/>
                </a:solidFill>
                <a:latin typeface="Courier New"/>
              </a:rPr>
              <a:t>        "timestamp":  datetime.now(timezone.utc).isoformat(),</a:t>
            </a:r>
          </a:p>
          <a:p>
            <a:r>
              <a:rPr sz="1100">
                <a:solidFill>
                  <a:srgbClr val="CBD0FF"/>
                </a:solidFill>
                <a:latin typeface="Courier New"/>
              </a:rPr>
              <a:t>        "level":      random.choice(LEVELS),</a:t>
            </a:r>
          </a:p>
          <a:p>
            <a:r>
              <a:rPr sz="1100">
                <a:solidFill>
                  <a:srgbClr val="CBD0FF"/>
                </a:solidFill>
                <a:latin typeface="Courier New"/>
              </a:rPr>
              <a:t>        "service":    random.choice(SERVICES),</a:t>
            </a:r>
          </a:p>
          <a:p>
            <a:r>
              <a:rPr sz="1100">
                <a:solidFill>
                  <a:srgbClr val="CBD0FF"/>
                </a:solidFill>
                <a:latin typeface="Courier New"/>
              </a:rPr>
              <a:t>        "message":    random.choice(MESSAGES[level]),</a:t>
            </a:r>
          </a:p>
          <a:p>
            <a:r>
              <a:rPr sz="1100">
                <a:solidFill>
                  <a:srgbClr val="CBD0FF"/>
                </a:solidFill>
                <a:latin typeface="Courier New"/>
              </a:rPr>
              <a:t>        "request_id": uuid.uuid4().hex[:8],</a:t>
            </a:r>
          </a:p>
          <a:p>
            <a:r>
              <a:rPr sz="1100">
                <a:solidFill>
                  <a:srgbClr val="CBD0FF"/>
                </a:solidFill>
                <a:latin typeface="Courier New"/>
              </a:rPr>
              <a:t>   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7889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A"/>
                </a:solidFill>
              </a:rPr>
              <a:t>Spec → Code Traceability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3291840"/>
            <a:ext cx="1737360" cy="502920"/>
          </a:xfrm>
          <a:prstGeom prst="rect">
            <a:avLst/>
          </a:prstGeom>
          <a:solidFill>
            <a:srgbClr val="00B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829800" y="3291840"/>
            <a:ext cx="2148840" cy="50292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32918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33680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657A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32918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SERVICES list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3995928"/>
            <a:ext cx="1737360" cy="502920"/>
          </a:xfrm>
          <a:prstGeom prst="rect">
            <a:avLst/>
          </a:prstGeom>
          <a:solidFill>
            <a:srgbClr val="00B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29800" y="3995928"/>
            <a:ext cx="2148840" cy="50292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399592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JSON fields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4072128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657A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399592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dict keys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4700016"/>
            <a:ext cx="1737360" cy="502920"/>
          </a:xfrm>
          <a:prstGeom prst="rect">
            <a:avLst/>
          </a:prstGeom>
          <a:solidFill>
            <a:srgbClr val="00B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29800" y="4700016"/>
            <a:ext cx="2148840" cy="50292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4700016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Level weights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477621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657A"/>
                </a:solidFill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4700016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LEVEL_WEIGHTS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79" y="5404104"/>
            <a:ext cx="1737360" cy="502920"/>
          </a:xfrm>
          <a:prstGeom prst="rect">
            <a:avLst/>
          </a:prstGeom>
          <a:solidFill>
            <a:srgbClr val="00B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829800" y="5404104"/>
            <a:ext cx="2148840" cy="50292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79" y="5404104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request_id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5480304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657A"/>
                </a:solidFill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9800" y="5404104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uuid.hex[:8]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7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8"/>
                </a:solidFill>
              </a:rPr>
              <a:t>Spec-Driven Development  |  Grafana Log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40312" y="6497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0D8"/>
                </a:solidFill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2011680" cy="292608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STEP 3 — INFRA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A3A"/>
                </a:solidFill>
              </a:rPr>
              <a:t>Step 3: From Spec → Infrastructure  (Docker Compose)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11247120" cy="594360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031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Spec says:  "Loki on port 3100 · Promtail watches ./logs/*.log · Grafana on port 3000 (admin/admin)"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88920"/>
            <a:ext cx="7498079" cy="3657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88920"/>
            <a:ext cx="54864" cy="3657600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890520"/>
            <a:ext cx="7315199" cy="34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BD0FF"/>
                </a:solidFill>
                <a:latin typeface="Courier New"/>
              </a:rPr>
              <a:t>services:</a:t>
            </a:r>
          </a:p>
          <a:p>
            <a:r>
              <a:rPr sz="1100">
                <a:solidFill>
                  <a:srgbClr val="CBD0FF"/>
                </a:solidFill>
                <a:latin typeface="Courier New"/>
              </a:rPr>
              <a:t>  loki:</a:t>
            </a:r>
          </a:p>
          <a:p>
            <a:r>
              <a:rPr sz="1100">
                <a:solidFill>
                  <a:srgbClr val="CBD0FF"/>
                </a:solidFill>
                <a:latin typeface="Courier New"/>
              </a:rPr>
              <a:t>    image: grafana/loki:2.9.4</a:t>
            </a:r>
          </a:p>
          <a:p>
            <a:r>
              <a:rPr sz="1100">
                <a:solidFill>
                  <a:srgbClr val="CBD0FF"/>
                </a:solidFill>
                <a:latin typeface="Courier New"/>
              </a:rPr>
              <a:t>    ports: ["3100:3100"]          # ← spec: port 3100</a:t>
            </a:r>
          </a:p>
          <a:p>
            <a:r>
              <a:rPr sz="1100">
                <a:solidFill>
                  <a:srgbClr val="CBD0FF"/>
                </a:solidFill>
                <a:latin typeface="Courier New"/>
              </a:rPr>
              <a:t>    volumes:</a:t>
            </a:r>
          </a:p>
          <a:p>
            <a:r>
              <a:rPr sz="1100">
                <a:solidFill>
                  <a:srgbClr val="CBD0FF"/>
                </a:solidFill>
                <a:latin typeface="Courier New"/>
              </a:rPr>
              <a:t>      - ./loki/loki-config.yml:/etc/loki/loki-config.yml:ro</a:t>
            </a:r>
          </a:p>
          <a:p>
            <a:r>
              <a:rPr sz="1100">
                <a:solidFill>
                  <a:srgbClr val="CBD0FF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CBD0FF"/>
                </a:solidFill>
                <a:latin typeface="Courier New"/>
              </a:rPr>
              <a:t>  promtail:</a:t>
            </a:r>
          </a:p>
          <a:p>
            <a:r>
              <a:rPr sz="1100">
                <a:solidFill>
                  <a:srgbClr val="CBD0FF"/>
                </a:solidFill>
                <a:latin typeface="Courier New"/>
              </a:rPr>
              <a:t>    image: grafana/promtail:2.9.4</a:t>
            </a:r>
          </a:p>
          <a:p>
            <a:r>
              <a:rPr sz="1100">
                <a:solidFill>
                  <a:srgbClr val="CBD0FF"/>
                </a:solidFill>
                <a:latin typeface="Courier New"/>
              </a:rPr>
              <a:t>    volumes:</a:t>
            </a:r>
          </a:p>
          <a:p>
            <a:r>
              <a:rPr sz="1100">
                <a:solidFill>
                  <a:srgbClr val="CBD0FF"/>
                </a:solidFill>
                <a:latin typeface="Courier New"/>
              </a:rPr>
              <a:t>      - ./logs:/logs:ro           # ← spec: watches ./logs/*.log</a:t>
            </a:r>
          </a:p>
          <a:p>
            <a:r>
              <a:rPr sz="1100">
                <a:solidFill>
                  <a:srgbClr val="CBD0FF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CBD0FF"/>
                </a:solidFill>
                <a:latin typeface="Courier New"/>
              </a:rPr>
              <a:t>  grafana:</a:t>
            </a:r>
          </a:p>
          <a:p>
            <a:r>
              <a:rPr sz="1100">
                <a:solidFill>
                  <a:srgbClr val="CBD0FF"/>
                </a:solidFill>
                <a:latin typeface="Courier New"/>
              </a:rPr>
              <a:t>    image: grafana/grafana:10.3.3</a:t>
            </a:r>
          </a:p>
          <a:p>
            <a:r>
              <a:rPr sz="1100">
                <a:solidFill>
                  <a:srgbClr val="CBD0FF"/>
                </a:solidFill>
                <a:latin typeface="Courier New"/>
              </a:rPr>
              <a:t>    ports: ["3000:3000"]          # ← spec: port 3000</a:t>
            </a:r>
          </a:p>
          <a:p>
            <a:r>
              <a:rPr sz="1100">
                <a:solidFill>
                  <a:srgbClr val="CBD0FF"/>
                </a:solidFill>
                <a:latin typeface="Courier New"/>
              </a:rPr>
              <a:t>    environment:</a:t>
            </a:r>
          </a:p>
          <a:p>
            <a:r>
              <a:rPr sz="1100">
                <a:solidFill>
                  <a:srgbClr val="CBD0FF"/>
                </a:solidFill>
                <a:latin typeface="Courier New"/>
              </a:rPr>
              <a:t>      - GF_SECURITY_ADMIN_USER=admin</a:t>
            </a:r>
          </a:p>
          <a:p>
            <a:r>
              <a:rPr sz="1100">
                <a:solidFill>
                  <a:srgbClr val="CBD0FF"/>
                </a:solidFill>
                <a:latin typeface="Courier New"/>
              </a:rPr>
              <a:t>      - GF_SECURITY_ADMIN_PASSWORD=admin  # ← spec: admin/admin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01752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1E2A3A"/>
                </a:solidFill>
              </a:rPr>
              <a:t>Every config value is
traced to a spec 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393192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1E2A3A"/>
                </a:solidFill>
              </a:rPr>
              <a:t>●  No surprise ports or passwords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E2A3A"/>
                </a:solidFill>
              </a:rPr>
              <a:t>●  New team member reads spec
→ understands the infra immediately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E2A3A"/>
                </a:solidFill>
              </a:rPr>
              <a:t>●  Changes to infra require
a spec update first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7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8"/>
                </a:solidFill>
              </a:rPr>
              <a:t>Spec-Driven Development  |  Grafana Log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40312" y="6497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0D8"/>
                </a:solidFill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2011680" cy="292608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STEP 3 —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A3A"/>
                </a:solidFill>
              </a:rPr>
              <a:t>Step 3: From Spec → Dashboard  (Grafana JSON)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11247120" cy="59436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031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Spec says:  "Log volume over time (bar) · Log level breakdown (pie) · Live log stream with label filters"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88920"/>
            <a:ext cx="2651760" cy="1280160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16352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Log Volume
Over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69080"/>
            <a:ext cx="2651760" cy="2011680"/>
          </a:xfrm>
          <a:prstGeom prst="rect">
            <a:avLst/>
          </a:prstGeom>
          <a:solidFill>
            <a:srgbClr val="F5F7FA"/>
          </a:solidFill>
          <a:ln w="25400">
            <a:solidFill>
              <a:srgbClr val="F46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2651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657A"/>
                </a:solidFill>
              </a:rPr>
              <a:t>Bar chart
by level
(INFO/WARN/ERROR)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4992" y="2788920"/>
            <a:ext cx="2651760" cy="1280160"/>
          </a:xfrm>
          <a:prstGeom prst="rect">
            <a:avLst/>
          </a:prstGeom>
          <a:solidFill>
            <a:srgbClr val="00B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4992" y="2816352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Level
Breakdown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4992" y="4069080"/>
            <a:ext cx="2651760" cy="2011680"/>
          </a:xfrm>
          <a:prstGeom prst="rect">
            <a:avLst/>
          </a:prstGeom>
          <a:solidFill>
            <a:srgbClr val="F5F7FA"/>
          </a:solidFill>
          <a:ln w="25400">
            <a:solidFill>
              <a:srgbClr val="00B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64992" y="4114800"/>
            <a:ext cx="2651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657A"/>
                </a:solidFill>
              </a:rPr>
              <a:t>Donut chart
% per level
last 1 hour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2784" y="2788920"/>
            <a:ext cx="2651760" cy="128016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2784" y="2816352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Error Rate
/min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72784" y="4069080"/>
            <a:ext cx="2651760" cy="2011680"/>
          </a:xfrm>
          <a:prstGeom prst="rect">
            <a:avLst/>
          </a:prstGeom>
          <a:solidFill>
            <a:srgbClr val="F5F7FA"/>
          </a:solidFill>
          <a:ln w="254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4" y="4114800"/>
            <a:ext cx="2651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657A"/>
                </a:solidFill>
              </a:rPr>
              <a:t>Stat panel
with threshold
coloring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80576" y="2788920"/>
            <a:ext cx="2651760" cy="1280160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0576" y="2816352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Live Log
Stream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80576" y="4069080"/>
            <a:ext cx="2651760" cy="2011680"/>
          </a:xfrm>
          <a:prstGeom prst="rect">
            <a:avLst/>
          </a:prstGeom>
          <a:solidFill>
            <a:srgbClr val="F5F7FA"/>
          </a:solidFill>
          <a:ln w="25400">
            <a:solidFill>
              <a:srgbClr val="7B2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0576" y="4114800"/>
            <a:ext cx="2651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657A"/>
                </a:solidFill>
              </a:rPr>
              <a:t>Real-time
log viewer
with filters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5657A"/>
                </a:solidFill>
              </a:rPr>
              <a:t>Each panel was specified before dashboard.json was created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7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8"/>
                </a:solidFill>
              </a:rPr>
              <a:t>Spec-Driven Development  |  Grafana Log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40312" y="6497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0D8"/>
                </a:solidFill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2011680" cy="292608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A3A"/>
                </a:solidFill>
              </a:rPr>
              <a:t>Benefits for Everyone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5394960" cy="42062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46800"/>
                </a:solidFill>
              </a:rPr>
              <a:t>For Developers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651760"/>
            <a:ext cx="3566160" cy="36576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74320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✓  Clear requirements before writing line 1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✓  No second-guessing intent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✓  Easier code reviews — reviewer checks spec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✓  Onboarding: read the spec, understand the system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✓  Spec-driven tests = clear acceptance criteria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103120"/>
            <a:ext cx="5669280" cy="4206240"/>
          </a:xfrm>
          <a:prstGeom prst="rect">
            <a:avLst/>
          </a:prstGeom>
          <a:solidFill>
            <a:srgbClr val="00B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21945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For Managers &amp; Stakeholders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2651760"/>
            <a:ext cx="35661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743200"/>
            <a:ext cx="5394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✓  Review &amp; approve before any dev time spent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✓  Scope is locked in writing — fewer surprises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✓  Progress is measurable against spec items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✓  Handoffs are clean — spec is the documentation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✓  Faster delivery — less rework, less re-explaining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7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8"/>
                </a:solidFill>
              </a:rPr>
              <a:t>Spec-Driven Development  |  Grafana Log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40312" y="6497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0D8"/>
                </a:solidFill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2011680" cy="292608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PRINCIPLES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A3A"/>
                </a:solidFill>
              </a:rPr>
              <a:t>Key Principles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457200" cy="594360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910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A3A"/>
                </a:solidFill>
              </a:rPr>
              <a:t>Spec Before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291080"/>
            <a:ext cx="7040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657A"/>
                </a:solidFill>
              </a:rPr>
              <a:t>No line of code is written without a spec item to point 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44952"/>
            <a:ext cx="457200" cy="594360"/>
          </a:xfrm>
          <a:prstGeom prst="rect">
            <a:avLst/>
          </a:prstGeom>
          <a:solidFill>
            <a:srgbClr val="00B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09575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A3A"/>
                </a:solidFill>
              </a:rPr>
              <a:t>Living Document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095752"/>
            <a:ext cx="7040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657A"/>
                </a:solidFill>
              </a:rPr>
              <a:t>The spec evolves WITH the system — it's never abandoned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9624"/>
            <a:ext cx="457200" cy="59436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90042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A3A"/>
                </a:solidFill>
              </a:rPr>
              <a:t>Single Source of Truth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900424"/>
            <a:ext cx="7040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657A"/>
                </a:solidFill>
              </a:rPr>
              <a:t>README (or spec doc) is the authoritative record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54296"/>
            <a:ext cx="457200" cy="594360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70509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A3A"/>
                </a:solidFill>
              </a:rPr>
              <a:t>Small &amp; Iterative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705096"/>
            <a:ext cx="7040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657A"/>
                </a:solidFill>
              </a:rPr>
              <a:t>Spec one slice at a time — ship, learn, update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458968"/>
            <a:ext cx="457200" cy="59436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50976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A3A"/>
                </a:solidFill>
              </a:rPr>
              <a:t>Shared Ownership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5509768"/>
            <a:ext cx="7040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657A"/>
                </a:solidFill>
              </a:rPr>
              <a:t>Everyone (dev, PM, QA) contributed to and owns the spec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WRITE THE SPEC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1">
                <a:solidFill>
                  <a:srgbClr val="F46800"/>
                </a:solidFill>
              </a:rPr>
              <a:t>Then build exactly what you specified.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383280"/>
            <a:ext cx="5943600" cy="1188720"/>
          </a:xfrm>
          <a:prstGeom prst="rect">
            <a:avLst/>
          </a:prstGeom>
          <a:solidFill>
            <a:srgbClr val="2A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429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6800"/>
                </a:solidFill>
              </a:rPr>
              <a:t>POC 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49039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github.com/jaij52/Jai-Github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006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8"/>
                </a:solidFill>
              </a:rPr>
              <a:t>Stack: Python  ·  Loki  ·  Promtail  ·  Grafana
docker compose up -d  →  python log_generator.py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53035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00B0A0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